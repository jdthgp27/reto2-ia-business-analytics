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6"/>
  </p:notesMasterIdLst>
  <p:handoutMasterIdLst>
    <p:handoutMasterId r:id="rId17"/>
  </p:handoutMasterIdLst>
  <p:sldIdLst>
    <p:sldId id="298" r:id="rId4"/>
    <p:sldId id="283" r:id="rId5"/>
    <p:sldId id="297" r:id="rId6"/>
    <p:sldId id="292" r:id="rId7"/>
    <p:sldId id="284" r:id="rId8"/>
    <p:sldId id="293" r:id="rId9"/>
    <p:sldId id="294" r:id="rId10"/>
    <p:sldId id="295" r:id="rId11"/>
    <p:sldId id="285" r:id="rId12"/>
    <p:sldId id="299" r:id="rId13"/>
    <p:sldId id="300" r:id="rId14"/>
    <p:sldId id="296" r:id="rId1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574" autoAdjust="0"/>
  </p:normalViewPr>
  <p:slideViewPr>
    <p:cSldViewPr snapToGrid="0">
      <p:cViewPr varScale="1">
        <p:scale>
          <a:sx n="127" d="100"/>
          <a:sy n="127" d="100"/>
        </p:scale>
        <p:origin x="110" y="3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15/09/2026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15/09/2026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282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5243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7180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0067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87260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89773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38521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3913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es-ES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s-ES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s-E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s-ES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.png"/><Relationship Id="rId5" Type="http://schemas.openxmlformats.org/officeDocument/2006/relationships/image" Target="../media/image8.jp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2.png"/><Relationship Id="rId5" Type="http://schemas.openxmlformats.org/officeDocument/2006/relationships/hyperlink" Target="https://www.piqsels.com/es/public-domain-photo-zkhnc" TargetMode="Externa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6.sv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15.svg"/><Relationship Id="rId5" Type="http://schemas.openxmlformats.org/officeDocument/2006/relationships/image" Target="../media/image14.jpeg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Manos que se unen en un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r>
              <a:rPr lang="es-ES" b="0" dirty="0"/>
              <a:t>Predicción de Venta Cruzada en Seguros de Salud</a:t>
            </a:r>
            <a:endParaRPr lang="es-ES" sz="52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3121" y="4061039"/>
            <a:ext cx="7067467" cy="580921"/>
          </a:xfrm>
        </p:spPr>
        <p:txBody>
          <a:bodyPr rtlCol="0"/>
          <a:lstStyle/>
          <a:p>
            <a:r>
              <a:rPr lang="es-ES" dirty="0"/>
              <a:t>Implementación de algoritmos avanzados de IA en Business Analytics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641B61-245D-B8CD-2193-1D4A025C1B25}"/>
              </a:ext>
            </a:extLst>
          </p:cNvPr>
          <p:cNvSpPr txBox="1"/>
          <p:nvPr/>
        </p:nvSpPr>
        <p:spPr>
          <a:xfrm>
            <a:off x="4596063" y="6434693"/>
            <a:ext cx="468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Judit Giravent | Odisea Data | Septiembre 2026</a:t>
            </a:r>
          </a:p>
        </p:txBody>
      </p:sp>
      <p:pic>
        <p:nvPicPr>
          <p:cNvPr id="5" name="ttsmaker-file-2026-9-15-21-20-31">
            <a:hlinkClick r:id="" action="ppaction://media"/>
            <a:extLst>
              <a:ext uri="{FF2B5EF4-FFF2-40B4-BE49-F238E27FC236}">
                <a16:creationId xmlns:a16="http://schemas.microsoft.com/office/drawing/2014/main" id="{A066F80F-A5DC-3DA6-6B73-5923161F02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26583" y="576529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2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9889" y="803473"/>
            <a:ext cx="5472000" cy="2709748"/>
          </a:xfrm>
        </p:spPr>
        <p:txBody>
          <a:bodyPr rtlCol="0"/>
          <a:lstStyle/>
          <a:p>
            <a:pPr lvl="0"/>
            <a:r>
              <a:rPr lang="es-ES" dirty="0"/>
              <a:t>381.109 clientes con seguro de salud.</a:t>
            </a:r>
          </a:p>
          <a:p>
            <a:pPr lvl="0"/>
            <a:r>
              <a:rPr lang="es-ES" dirty="0"/>
              <a:t>Objetivo: venderles un seguro de vehículo (venta cruzada).</a:t>
            </a:r>
          </a:p>
          <a:p>
            <a:pPr lvl="0"/>
            <a:r>
              <a:rPr lang="es-ES" dirty="0"/>
              <a:t>Reto: contactar solo a los que van a comprar → ahorrar coste.</a:t>
            </a:r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El problema de negocio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algn="ctr"/>
            <a:r>
              <a:rPr lang="es-ES" dirty="0"/>
              <a:t>¿a quién merece la pena contactar?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  <p:pic>
        <p:nvPicPr>
          <p:cNvPr id="5" name="ttsmaker-file-2026-9-15-21-23-26">
            <a:hlinkClick r:id="" action="ppaction://media"/>
            <a:extLst>
              <a:ext uri="{FF2B5EF4-FFF2-40B4-BE49-F238E27FC236}">
                <a16:creationId xmlns:a16="http://schemas.microsoft.com/office/drawing/2014/main" id="{F084380D-7B2C-D7AB-CF13-4ED1103E00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48267" y="536930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3" descr="Una persona que escribe una nota a mano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r>
              <a:rPr lang="es-ES" dirty="0"/>
              <a:t>El </a:t>
            </a:r>
            <a:r>
              <a:rPr lang="es-ES" dirty="0" err="1"/>
              <a:t>dataset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lvl="0"/>
            <a:r>
              <a:rPr lang="es-ES" b="1" dirty="0"/>
              <a:t>Fuente:</a:t>
            </a:r>
            <a:r>
              <a:rPr lang="es-ES" dirty="0"/>
              <a:t> Health </a:t>
            </a:r>
            <a:r>
              <a:rPr lang="es-ES" dirty="0" err="1"/>
              <a:t>Insurance</a:t>
            </a:r>
            <a:r>
              <a:rPr lang="es-ES" dirty="0"/>
              <a:t> Cross Sell </a:t>
            </a:r>
            <a:r>
              <a:rPr lang="es-ES" dirty="0" err="1"/>
              <a:t>Prediction</a:t>
            </a:r>
            <a:r>
              <a:rPr lang="es-ES" dirty="0"/>
              <a:t> (</a:t>
            </a:r>
            <a:r>
              <a:rPr lang="es-ES" dirty="0" err="1"/>
              <a:t>Kaggle</a:t>
            </a:r>
            <a:r>
              <a:rPr lang="es-ES" dirty="0"/>
              <a:t>)</a:t>
            </a:r>
          </a:p>
          <a:p>
            <a:pPr lvl="0"/>
            <a:r>
              <a:rPr lang="es-ES" b="1" dirty="0"/>
              <a:t>Registros:</a:t>
            </a:r>
            <a:r>
              <a:rPr lang="es-ES" dirty="0"/>
              <a:t> 381.109</a:t>
            </a:r>
          </a:p>
          <a:p>
            <a:pPr lvl="0"/>
            <a:r>
              <a:rPr lang="es-ES" b="1" dirty="0"/>
              <a:t>Variables:</a:t>
            </a:r>
            <a:r>
              <a:rPr lang="es-ES" dirty="0"/>
              <a:t> 12 (10 predictoras + id + Response)</a:t>
            </a:r>
          </a:p>
          <a:p>
            <a:pPr lvl="0"/>
            <a:r>
              <a:rPr lang="es-ES" b="1" dirty="0"/>
              <a:t>Tasa de conversión base:</a:t>
            </a:r>
            <a:r>
              <a:rPr lang="es-ES" dirty="0"/>
              <a:t> 12.26% (desbalanceo 7:1)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5" name="ttsmaker-file-2026-9-15-21-25-3">
            <a:hlinkClick r:id="" action="ppaction://media"/>
            <a:extLst>
              <a:ext uri="{FF2B5EF4-FFF2-40B4-BE49-F238E27FC236}">
                <a16:creationId xmlns:a16="http://schemas.microsoft.com/office/drawing/2014/main" id="{4E12CE92-B99E-E0FB-237B-1E3CDCD943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18100" y="539833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1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371351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6621" y="45515"/>
            <a:ext cx="5956300" cy="1043734"/>
          </a:xfrm>
        </p:spPr>
        <p:txBody>
          <a:bodyPr rtlCol="0"/>
          <a:lstStyle/>
          <a:p>
            <a:pPr algn="ctr"/>
            <a:r>
              <a:rPr lang="es-ES" dirty="0"/>
              <a:t>Pipeline del proyecto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653" y="2738462"/>
            <a:ext cx="7752347" cy="2510963"/>
          </a:xfrm>
        </p:spPr>
        <p:txBody>
          <a:bodyPr rtlCol="0"/>
          <a:lstStyle/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Stack técnico:</a:t>
            </a:r>
            <a:r>
              <a:rPr lang="es-ES" dirty="0"/>
              <a:t> Python, </a:t>
            </a:r>
            <a:r>
              <a:rPr lang="es-ES" dirty="0" err="1"/>
              <a:t>XGBoost</a:t>
            </a:r>
            <a:r>
              <a:rPr lang="es-ES" dirty="0"/>
              <a:t>, </a:t>
            </a:r>
            <a:r>
              <a:rPr lang="es-ES" dirty="0" err="1"/>
              <a:t>LightGBM</a:t>
            </a:r>
            <a:r>
              <a:rPr lang="es-ES" dirty="0"/>
              <a:t>, </a:t>
            </a:r>
            <a:r>
              <a:rPr lang="es-ES" dirty="0" err="1"/>
              <a:t>TensorFlow</a:t>
            </a:r>
            <a:r>
              <a:rPr lang="es-ES" dirty="0"/>
              <a:t>, SHAP.</a:t>
            </a:r>
          </a:p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F5BE58-9AA8-FD97-95DE-2B663BE02F1A}"/>
              </a:ext>
            </a:extLst>
          </p:cNvPr>
          <p:cNvSpPr txBox="1"/>
          <p:nvPr/>
        </p:nvSpPr>
        <p:spPr>
          <a:xfrm>
            <a:off x="206568" y="1184565"/>
            <a:ext cx="10563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Diagrama de los 8 pasos: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dataset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→ preparación → modelos → evaluación → recomendaciones.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ttsmaker-file-2026-9-15-21-30-32">
            <a:hlinkClick r:id="" action="ppaction://media"/>
            <a:extLst>
              <a:ext uri="{FF2B5EF4-FFF2-40B4-BE49-F238E27FC236}">
                <a16:creationId xmlns:a16="http://schemas.microsoft.com/office/drawing/2014/main" id="{6F14197B-6533-97E9-BCAD-9093908528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21636" y="485089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8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Análisis exploratorio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7999"/>
            <a:ext cx="11339513" cy="1355035"/>
          </a:xfrm>
        </p:spPr>
        <p:txBody>
          <a:bodyPr rtlCol="0"/>
          <a:lstStyle/>
          <a:p>
            <a:pPr lvl="0"/>
            <a:r>
              <a:rPr lang="es-ES" b="1" dirty="0" err="1"/>
              <a:t>Insight</a:t>
            </a:r>
            <a:r>
              <a:rPr lang="es-ES" b="1" dirty="0"/>
              <a:t> 1:</a:t>
            </a:r>
            <a:r>
              <a:rPr lang="es-ES" dirty="0"/>
              <a:t> los clientes ya asegurados casi nunca compran.</a:t>
            </a:r>
          </a:p>
          <a:p>
            <a:pPr lvl="0"/>
            <a:r>
              <a:rPr lang="es-ES" b="1" dirty="0" err="1"/>
              <a:t>Insight</a:t>
            </a:r>
            <a:r>
              <a:rPr lang="es-ES" b="1" dirty="0"/>
              <a:t> 2:</a:t>
            </a:r>
            <a:r>
              <a:rPr lang="es-ES" dirty="0"/>
              <a:t> los clientes con daños en el vehículo sí compran mucho.</a:t>
            </a:r>
          </a:p>
          <a:p>
            <a:pPr lvl="0"/>
            <a:r>
              <a:rPr lang="es-ES" b="1" dirty="0" err="1"/>
              <a:t>Insight</a:t>
            </a:r>
            <a:r>
              <a:rPr lang="es-ES" b="1" dirty="0"/>
              <a:t> 3:</a:t>
            </a:r>
            <a:r>
              <a:rPr lang="es-ES" dirty="0"/>
              <a:t> la edad intermedia (30-50) es la más receptiva.</a:t>
            </a:r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5</a:t>
            </a:fld>
            <a:endParaRPr lang="es-ES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9C93759-2363-493D-B7E3-79343DAFD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89828"/>
            <a:ext cx="12192000" cy="3325091"/>
          </a:xfrm>
          <a:prstGeom prst="rect">
            <a:avLst/>
          </a:prstGeom>
        </p:spPr>
      </p:pic>
      <p:pic>
        <p:nvPicPr>
          <p:cNvPr id="23" name="ttsmaker-file-2026-9-15-21-33-25">
            <a:hlinkClick r:id="" action="ppaction://media"/>
            <a:extLst>
              <a:ext uri="{FF2B5EF4-FFF2-40B4-BE49-F238E27FC236}">
                <a16:creationId xmlns:a16="http://schemas.microsoft.com/office/drawing/2014/main" id="{89FBB558-29D7-2F10-51F0-7549E4EF7A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17889" y="560631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92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Marcador de posición de imagen 22" descr="Mujer sonriendo con un portátil">
            <a:extLst>
              <a:ext uri="{FF2B5EF4-FFF2-40B4-BE49-F238E27FC236}">
                <a16:creationId xmlns:a16="http://schemas.microsoft.com/office/drawing/2014/main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7664" y="14605"/>
            <a:ext cx="9780588" cy="6371351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5552"/>
            <a:ext cx="4903599" cy="1958400"/>
          </a:xfrm>
        </p:spPr>
        <p:txBody>
          <a:bodyPr rtlCol="0"/>
          <a:lstStyle/>
          <a:p>
            <a:r>
              <a:rPr lang="es-ES" dirty="0"/>
              <a:t>Preparación de los datos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394284"/>
            <a:ext cx="4902200" cy="2817041"/>
          </a:xfrm>
        </p:spPr>
        <p:txBody>
          <a:bodyPr rtlCol="0"/>
          <a:lstStyle/>
          <a:p>
            <a:pPr lvl="0"/>
            <a:r>
              <a:rPr lang="es-ES" dirty="0"/>
              <a:t>Sin valores nulos.</a:t>
            </a:r>
          </a:p>
          <a:p>
            <a:pPr lvl="0"/>
            <a:r>
              <a:rPr lang="es-ES" dirty="0"/>
              <a:t>Tratamiento de </a:t>
            </a:r>
            <a:r>
              <a:rPr lang="es-ES" dirty="0" err="1"/>
              <a:t>outliers</a:t>
            </a:r>
            <a:r>
              <a:rPr lang="es-ES" dirty="0"/>
              <a:t> en </a:t>
            </a:r>
            <a:r>
              <a:rPr lang="es-ES" dirty="0" err="1"/>
              <a:t>Annual_Premium</a:t>
            </a:r>
            <a:r>
              <a:rPr lang="es-ES" dirty="0"/>
              <a:t> (</a:t>
            </a:r>
            <a:r>
              <a:rPr lang="es-ES" dirty="0" err="1"/>
              <a:t>clipping</a:t>
            </a:r>
            <a:r>
              <a:rPr lang="es-ES" dirty="0"/>
              <a:t> 1-99).</a:t>
            </a:r>
          </a:p>
          <a:p>
            <a:pPr lvl="0"/>
            <a:r>
              <a:rPr lang="es-ES" dirty="0"/>
              <a:t>Codificación de variables categóricas.</a:t>
            </a:r>
          </a:p>
          <a:p>
            <a:pPr lvl="0"/>
            <a:r>
              <a:rPr lang="es-ES" dirty="0"/>
              <a:t>Escalado + </a:t>
            </a:r>
            <a:r>
              <a:rPr lang="es-ES" dirty="0" err="1"/>
              <a:t>split</a:t>
            </a:r>
            <a:r>
              <a:rPr lang="es-ES" dirty="0"/>
              <a:t> estratificado 80/20.</a:t>
            </a:r>
          </a:p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6</a:t>
            </a:fld>
            <a:endParaRPr lang="es-ES"/>
          </a:p>
        </p:txBody>
      </p:sp>
      <p:pic>
        <p:nvPicPr>
          <p:cNvPr id="2" name="ttsmaker-file-2026-9-15-21-35-18">
            <a:hlinkClick r:id="" action="ppaction://media"/>
            <a:extLst>
              <a:ext uri="{FF2B5EF4-FFF2-40B4-BE49-F238E27FC236}">
                <a16:creationId xmlns:a16="http://schemas.microsoft.com/office/drawing/2014/main" id="{2AB16B66-2744-F708-4500-C0DD63AD70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31809" y="553068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Cuadernos y material de oficina">
            <a:extLst>
              <a:ext uri="{FF2B5EF4-FFF2-40B4-BE49-F238E27FC236}">
                <a16:creationId xmlns:a16="http://schemas.microsoft.com/office/drawing/2014/main" id="{595FF478-0EF5-1858-4DE6-68A490356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Modelos implementados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487" y="2253269"/>
            <a:ext cx="11339513" cy="360000"/>
          </a:xfrm>
        </p:spPr>
        <p:txBody>
          <a:bodyPr rtlCol="0"/>
          <a:lstStyle/>
          <a:p>
            <a:pPr lvl="0"/>
            <a:r>
              <a:rPr lang="es-ES" b="1" dirty="0"/>
              <a:t>ML clásico:</a:t>
            </a:r>
            <a:r>
              <a:rPr lang="es-ES" dirty="0"/>
              <a:t> </a:t>
            </a:r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r>
              <a:rPr lang="es-ES" dirty="0"/>
              <a:t>, Random Forest, </a:t>
            </a:r>
            <a:r>
              <a:rPr lang="es-ES" dirty="0" err="1"/>
              <a:t>XGBoost</a:t>
            </a:r>
            <a:r>
              <a:rPr lang="es-ES" dirty="0"/>
              <a:t>, </a:t>
            </a:r>
            <a:r>
              <a:rPr lang="es-ES" dirty="0" err="1"/>
              <a:t>LightGBM</a:t>
            </a:r>
            <a:r>
              <a:rPr lang="es-ES" dirty="0"/>
              <a:t>.</a:t>
            </a:r>
          </a:p>
          <a:p>
            <a:pPr lvl="0"/>
            <a:r>
              <a:rPr lang="es-ES" b="1" dirty="0"/>
              <a:t>Deep </a:t>
            </a:r>
            <a:r>
              <a:rPr lang="es-ES" b="1" dirty="0" err="1"/>
              <a:t>Learning</a:t>
            </a:r>
            <a:r>
              <a:rPr lang="es-ES" b="1" dirty="0"/>
              <a:t>:</a:t>
            </a:r>
            <a:r>
              <a:rPr lang="es-ES" dirty="0"/>
              <a:t> MLP Básico y MLP Profundo.</a:t>
            </a:r>
          </a:p>
          <a:p>
            <a:pPr lvl="0"/>
            <a:r>
              <a:rPr lang="es-ES" dirty="0"/>
              <a:t>Estrategia contra desbalanceo: </a:t>
            </a:r>
            <a:r>
              <a:rPr lang="es-ES" dirty="0" err="1"/>
              <a:t>class_weight</a:t>
            </a:r>
            <a:r>
              <a:rPr lang="es-ES" dirty="0"/>
              <a:t>, </a:t>
            </a:r>
            <a:r>
              <a:rPr lang="es-ES" dirty="0" err="1"/>
              <a:t>scale_pos_weight</a:t>
            </a:r>
            <a:r>
              <a:rPr lang="es-ES" dirty="0"/>
              <a:t>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7</a:t>
            </a:fld>
            <a:endParaRPr lang="es-ES" dirty="0"/>
          </a:p>
        </p:txBody>
      </p:sp>
      <p:pic>
        <p:nvPicPr>
          <p:cNvPr id="5" name="ttsmaker-file-2026-9-15-21-37-44">
            <a:hlinkClick r:id="" action="ppaction://media"/>
            <a:extLst>
              <a:ext uri="{FF2B5EF4-FFF2-40B4-BE49-F238E27FC236}">
                <a16:creationId xmlns:a16="http://schemas.microsoft.com/office/drawing/2014/main" id="{102CF2AA-E024-C1F2-2313-50E96F807A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75399" y="512160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2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7421" y="5372100"/>
            <a:ext cx="11339513" cy="591963"/>
          </a:xfrm>
        </p:spPr>
        <p:txBody>
          <a:bodyPr rtlCol="0"/>
          <a:lstStyle/>
          <a:p>
            <a:pPr lvl="0"/>
            <a:r>
              <a:rPr lang="es-ES" b="1" dirty="0"/>
              <a:t>Ganador:</a:t>
            </a:r>
            <a:r>
              <a:rPr lang="es-ES" dirty="0"/>
              <a:t> </a:t>
            </a:r>
            <a:r>
              <a:rPr lang="es-ES" dirty="0" err="1"/>
              <a:t>LightGBM</a:t>
            </a:r>
            <a:r>
              <a:rPr lang="es-ES" dirty="0"/>
              <a:t> con AUC-ROC 0.8574.</a:t>
            </a:r>
          </a:p>
          <a:p>
            <a:pPr lvl="0"/>
            <a:r>
              <a:rPr lang="es-ES" dirty="0"/>
              <a:t>Los árboles superan a las redes neuronales en datos tabulares.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8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1EBB71-0398-7285-3D4D-433773E80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1" y="893937"/>
            <a:ext cx="9753600" cy="4356142"/>
          </a:xfrm>
          <a:prstGeom prst="rect">
            <a:avLst/>
          </a:prstGeom>
        </p:spPr>
      </p:pic>
      <p:pic>
        <p:nvPicPr>
          <p:cNvPr id="8" name="ttsmaker-file-2026-9-15-21-40-24">
            <a:hlinkClick r:id="" action="ppaction://media"/>
            <a:extLst>
              <a:ext uri="{FF2B5EF4-FFF2-40B4-BE49-F238E27FC236}">
                <a16:creationId xmlns:a16="http://schemas.microsoft.com/office/drawing/2014/main" id="{CEB687E0-4310-F449-24B2-653F57EB91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18988" y="503633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90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sala de conferencias">
            <a:extLst>
              <a:ext uri="{FF2B5EF4-FFF2-40B4-BE49-F238E27FC236}">
                <a16:creationId xmlns:a16="http://schemas.microsoft.com/office/drawing/2014/main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831" y="203699"/>
            <a:ext cx="3756737" cy="565899"/>
          </a:xfrm>
        </p:spPr>
        <p:txBody>
          <a:bodyPr rtlCol="0"/>
          <a:lstStyle/>
          <a:p>
            <a:r>
              <a:rPr lang="es-ES" b="1" dirty="0"/>
              <a:t>Interpretabilidad (SHAP)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"/>
              <a:t>Large image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07C23D-1C93-EE26-CD4E-48A08CE28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94" y="828056"/>
            <a:ext cx="7034202" cy="492516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3E04616-408D-1AA2-0548-43F6446FF130}"/>
              </a:ext>
            </a:extLst>
          </p:cNvPr>
          <p:cNvSpPr txBox="1"/>
          <p:nvPr/>
        </p:nvSpPr>
        <p:spPr>
          <a:xfrm>
            <a:off x="8019047" y="1885857"/>
            <a:ext cx="3665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Top 3 variables: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Previously_Insured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+mn-lt"/>
              </a:rPr>
              <a:t>Vehicle_Damage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, Age.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ttsmaker-file-2026-9-15-21-43-5">
            <a:hlinkClick r:id="" action="ppaction://media"/>
            <a:extLst>
              <a:ext uri="{FF2B5EF4-FFF2-40B4-BE49-F238E27FC236}">
                <a16:creationId xmlns:a16="http://schemas.microsoft.com/office/drawing/2014/main" id="{27700544-7777-0BE5-38DF-9CFCF6619B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924214" y="526585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4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iguras de palitos de familias cogiéndose de las manos">
            <a:extLst>
              <a:ext uri="{FF2B5EF4-FFF2-40B4-BE49-F238E27FC236}">
                <a16:creationId xmlns:a16="http://schemas.microsoft.com/office/drawing/2014/main" id="{D8772AC5-1721-A94F-1EB9-B934D0CB4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371351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C0AD8C-341E-FDE3-F97E-015C997601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8A4DD8-45E7-3D99-EF15-53CBB4A88AA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10</a:t>
            </a:fld>
            <a:endParaRPr lang="es-ES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A34F2EE-B987-8D4D-6F7A-42BB93D7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53" y="2603369"/>
            <a:ext cx="11328000" cy="432000"/>
          </a:xfrm>
        </p:spPr>
        <p:txBody>
          <a:bodyPr/>
          <a:lstStyle/>
          <a:p>
            <a:r>
              <a:rPr lang="es-ES" dirty="0"/>
              <a:t>Recomendaciones de negocio</a:t>
            </a:r>
            <a:br>
              <a:rPr lang="es-ES" dirty="0"/>
            </a:b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221C86-62A9-71DB-058C-5E578AD7433C}"/>
              </a:ext>
            </a:extLst>
          </p:cNvPr>
          <p:cNvSpPr txBox="1"/>
          <p:nvPr/>
        </p:nvSpPr>
        <p:spPr>
          <a:xfrm>
            <a:off x="630155" y="3822631"/>
            <a:ext cx="6145128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🎯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Excluir clientes ya asegurados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→ -45% coste.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🎯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Priorizar clientes con daños previos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→ x46 conversión.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🎯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Segmentar por probabilidad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→ 80% esfuerzo en 11% clientes.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ttsmaker-file-2026-9-15-21-46-1">
            <a:hlinkClick r:id="" action="ppaction://media"/>
            <a:extLst>
              <a:ext uri="{FF2B5EF4-FFF2-40B4-BE49-F238E27FC236}">
                <a16:creationId xmlns:a16="http://schemas.microsoft.com/office/drawing/2014/main" id="{81F05A34-F9E8-292C-2DE7-9B0AFA15B8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18199" y="483886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1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12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9A769044-940E-064B-BF47-3857280629E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0832" b="10832"/>
          <a:stretch>
            <a:fillRect/>
          </a:stretch>
        </p:blipFill>
        <p:spPr>
          <a:xfrm>
            <a:off x="0" y="0"/>
            <a:ext cx="12192000" cy="6371350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689216-495F-837E-4E4B-531089D27B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F284B4-AD83-2A4E-3353-80413B59AC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11</a:t>
            </a:fld>
            <a:endParaRPr lang="es-ES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E812C98-9B84-9E79-89AA-1BD1AA97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237" y="1147879"/>
            <a:ext cx="11328000" cy="432000"/>
          </a:xfrm>
        </p:spPr>
        <p:txBody>
          <a:bodyPr/>
          <a:lstStyle/>
          <a:p>
            <a:r>
              <a:rPr lang="es-ES" dirty="0"/>
              <a:t>Impacto esperado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B6DC562F-E84D-7260-4CC7-AAA3168A8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947733"/>
              </p:ext>
            </p:extLst>
          </p:nvPr>
        </p:nvGraphicFramePr>
        <p:xfrm>
          <a:off x="2310465" y="1820136"/>
          <a:ext cx="5730240" cy="147548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1279765270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764968789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086744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KPI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Antes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Después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607499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Tasa de conversión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~1%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~12%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35367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Coste por adquisición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100%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~11%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388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ROI de campaña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1x</a:t>
                      </a:r>
                      <a:endParaRPr lang="es-E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~10x</a:t>
                      </a:r>
                      <a:endParaRPr lang="es-E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3810402"/>
                  </a:ext>
                </a:extLst>
              </a:tr>
            </a:tbl>
          </a:graphicData>
        </a:graphic>
      </p:graphicFrame>
      <p:pic>
        <p:nvPicPr>
          <p:cNvPr id="12" name="ttsmaker-file-2026-9-15-21-48-56">
            <a:hlinkClick r:id="" action="ppaction://media"/>
            <a:extLst>
              <a:ext uri="{FF2B5EF4-FFF2-40B4-BE49-F238E27FC236}">
                <a16:creationId xmlns:a16="http://schemas.microsoft.com/office/drawing/2014/main" id="{11A01048-BF36-EC5A-81E0-1240552BC3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489699" y="531411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5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70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ción de imagen 31" descr="manos aplaudie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674"/>
            <a:ext cx="9780102" cy="6804025"/>
          </a:xfrm>
        </p:spPr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sz="5200" dirty="0"/>
              <a:t>Gracias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s-ES" sz="1800" dirty="0"/>
              <a:t>Judit Giravent</a:t>
            </a:r>
          </a:p>
        </p:txBody>
      </p:sp>
      <p:pic>
        <p:nvPicPr>
          <p:cNvPr id="8" name="Gráfico 7" descr="Usuario" title="Icono del nombre del moderador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s-ES" sz="1800" dirty="0"/>
              <a:t>640310474</a:t>
            </a:r>
          </a:p>
        </p:txBody>
      </p:sp>
      <p:pic>
        <p:nvPicPr>
          <p:cNvPr id="10" name="Gráfico 9" descr="Smartphone" title="Icono del número de teléfono del moderado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es-ES" sz="1800" dirty="0"/>
              <a:t>jdthgpp27@gmail.com</a:t>
            </a:r>
          </a:p>
        </p:txBody>
      </p:sp>
      <p:pic>
        <p:nvPicPr>
          <p:cNvPr id="9" name="Gráfico 8" descr="Sobre" title="Icono del correo electrónico del moderador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s-ES" sz="1800" dirty="0" err="1"/>
              <a:t>Github</a:t>
            </a:r>
            <a:r>
              <a:rPr lang="es-ES" sz="1800" dirty="0"/>
              <a:t>:@jdthgp27</a:t>
            </a:r>
          </a:p>
        </p:txBody>
      </p:sp>
      <p:pic>
        <p:nvPicPr>
          <p:cNvPr id="11" name="Gráfico 10" descr="Vínculo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12</a:t>
            </a:fld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1ED46C-F6B8-4BA3-1C69-3B1769D923FC}"/>
              </a:ext>
            </a:extLst>
          </p:cNvPr>
          <p:cNvSpPr txBox="1"/>
          <p:nvPr/>
        </p:nvSpPr>
        <p:spPr>
          <a:xfrm>
            <a:off x="1612232" y="3854495"/>
            <a:ext cx="6193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800" b="1" dirty="0">
                <a:solidFill>
                  <a:schemeClr val="tx1"/>
                </a:solidFill>
                <a:effectLst/>
                <a:latin typeface="+mn-lt"/>
              </a:rPr>
              <a:t>Conclusiones y próximos pasos</a:t>
            </a:r>
            <a:endParaRPr lang="es-ES" sz="28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D0E51D4-68F1-4719-356F-2AFCF5A75FFE}"/>
              </a:ext>
            </a:extLst>
          </p:cNvPr>
          <p:cNvSpPr txBox="1"/>
          <p:nvPr/>
        </p:nvSpPr>
        <p:spPr>
          <a:xfrm>
            <a:off x="2523372" y="4322439"/>
            <a:ext cx="7145255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✅ Modelo con AUC-ROC de 0.8574.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✅ ROI de campaña multiplicado por ~10.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🚀 Próximos pasos: desplegar en producción 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+ reentrenamiento mensual 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+ extensión a otros productos.</a:t>
            </a:r>
            <a:endParaRPr lang="es-ES" sz="16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5" name="ttsmaker-file-2026-9-15-21-53-34">
            <a:hlinkClick r:id="" action="ppaction://media"/>
            <a:extLst>
              <a:ext uri="{FF2B5EF4-FFF2-40B4-BE49-F238E27FC236}">
                <a16:creationId xmlns:a16="http://schemas.microsoft.com/office/drawing/2014/main" id="{3B2049FD-B455-4D82-FFE8-8D34B23A29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498687" y="546975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12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{83A3E768-4DA7-4B80-B5A8-FD51ACBF0771}TF992e0334-4647-4579-8d14-183019b0908cc11ea5a0_win32-8afc8497b335</Template>
  <TotalTime>38</TotalTime>
  <Words>432</Words>
  <Application>Microsoft Office PowerPoint</Application>
  <PresentationFormat>Panorámica</PresentationFormat>
  <Paragraphs>88</Paragraphs>
  <Slides>12</Slides>
  <Notes>10</Notes>
  <HiddenSlides>0</HiddenSlides>
  <MMClips>12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Candara</vt:lpstr>
      <vt:lpstr>Corbel</vt:lpstr>
      <vt:lpstr>quote-cjk-patch</vt:lpstr>
      <vt:lpstr>Times New Roman</vt:lpstr>
      <vt:lpstr>Personalizado</vt:lpstr>
      <vt:lpstr>Predicción de Venta Cruzada en Seguros de Salud</vt:lpstr>
      <vt:lpstr>El problema de negocio</vt:lpstr>
      <vt:lpstr>El dataset</vt:lpstr>
      <vt:lpstr>Pipeline del proyecto</vt:lpstr>
      <vt:lpstr>Análisis exploratorio</vt:lpstr>
      <vt:lpstr>Preparación de los datos</vt:lpstr>
      <vt:lpstr>Modelos implementados</vt:lpstr>
      <vt:lpstr>Resultados</vt:lpstr>
      <vt:lpstr>Large image</vt:lpstr>
      <vt:lpstr>Recomendaciones de negocio </vt:lpstr>
      <vt:lpstr>Impacto esperado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4</cp:revision>
  <dcterms:created xsi:type="dcterms:W3CDTF">2026-09-15T19:16:37Z</dcterms:created>
  <dcterms:modified xsi:type="dcterms:W3CDTF">2026-09-15T19:55:34Z</dcterms:modified>
</cp:coreProperties>
</file>